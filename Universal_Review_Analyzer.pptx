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  <p:sldId id="266" r:id="rId9"/>
    <p:sldId id="267" r:id="rId10"/>
    <p:sldId id="268" r:id="rId11"/>
    <p:sldId id="260" r:id="rId12"/>
    <p:sldId id="261" r:id="rId13"/>
    <p:sldId id="262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32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4692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7498080" y="-1005840"/>
            <a:ext cx="2926080" cy="2926080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8046720" y="-457200"/>
            <a:ext cx="1828800" cy="18288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-548640" y="3657600"/>
            <a:ext cx="2011680" cy="2011680"/>
          </a:xfrm>
          <a:prstGeom prst="ellipse">
            <a:avLst/>
          </a:prstGeom>
          <a:solidFill>
            <a:srgbClr val="F4A261">
              <a:alpha val="20000"/>
            </a:srgbClr>
          </a:solidFill>
          <a:ln w="12700">
            <a:solidFill>
              <a:srgbClr val="F4A26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BOOTCAMP — MAY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Review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11480" y="303580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Review Sentiment Dashboard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11480" y="3493008"/>
            <a:ext cx="4114800" cy="27432"/>
          </a:xfrm>
          <a:prstGeom prst="rect">
            <a:avLst/>
          </a:prstGeom>
          <a:solidFill>
            <a:srgbClr val="90B4CC"/>
          </a:solidFill>
          <a:ln w="12700">
            <a:solidFill>
              <a:srgbClr val="90B4C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411480" y="36393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Mbuyelo Nyathi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9502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Technology Programme  ·  CAPACITI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INTRODUCTION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Universal Review Analyzer?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444752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Streamlit-based dashboard that classifies customer reviews as Positive, Negative, or Neutral — generating word clouds, sentiment trends, and top review summaries from any uploaded dataset.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834640"/>
            <a:ext cx="1463040" cy="1188720"/>
          </a:xfrm>
          <a:prstGeom prst="roundRect">
            <a:avLst>
              <a:gd name="adj" fmla="val 9231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365760" y="283464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103120" y="2834640"/>
            <a:ext cx="1463040" cy="1188720"/>
          </a:xfrm>
          <a:prstGeom prst="roundRect">
            <a:avLst>
              <a:gd name="adj" fmla="val 9231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2103120" y="283464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Cloud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840480" y="2834640"/>
            <a:ext cx="1463040" cy="1188720"/>
          </a:xfrm>
          <a:prstGeom prst="roundRect">
            <a:avLst>
              <a:gd name="adj" fmla="val 9231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3840480" y="283464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0" y="914400"/>
            <a:ext cx="3291840" cy="3291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5486400" y="9144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🍔  McDonald's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Dataset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0" y="1920240"/>
            <a:ext cx="329184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Shape 13"/>
          <p:cNvSpPr/>
          <p:nvPr/>
        </p:nvSpPr>
        <p:spPr>
          <a:xfrm>
            <a:off x="5623560" y="2084832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5623560" y="208483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23760" y="2084832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7223760" y="208483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23560" y="2560320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5623560" y="25603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23760" y="2560320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7223760" y="25603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23560" y="3035808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5623560" y="30358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0" y="3749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· Flexible · Scalable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D42"/>
          </a:solidFill>
          <a:ln w="12700">
            <a:solidFill>
              <a:srgbClr val="1B2D4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SYSTEM 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Architecture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1536192" cy="1097280"/>
          </a:xfrm>
          <a:prstGeom prst="rect">
            <a:avLst/>
          </a:prstGeom>
          <a:solidFill>
            <a:srgbClr val="142236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153619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274320" y="1600200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011680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93392" y="1463040"/>
            <a:ext cx="1536192" cy="1097280"/>
          </a:xfrm>
          <a:prstGeom prst="rect">
            <a:avLst/>
          </a:prstGeom>
          <a:solidFill>
            <a:srgbClr val="142236"/>
          </a:solidFill>
          <a:ln w="12700">
            <a:solidFill>
              <a:srgbClr val="F4A261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1993392" y="1463040"/>
            <a:ext cx="1536192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1993392" y="1600200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93392" y="2011680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12464" y="1463040"/>
            <a:ext cx="1536192" cy="1097280"/>
          </a:xfrm>
          <a:prstGeom prst="rect">
            <a:avLst/>
          </a:prstGeom>
          <a:solidFill>
            <a:srgbClr val="142236"/>
          </a:solidFill>
          <a:ln w="12700">
            <a:solidFill>
              <a:srgbClr val="2EC4B6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4" name="Shape 12"/>
          <p:cNvSpPr/>
          <p:nvPr/>
        </p:nvSpPr>
        <p:spPr>
          <a:xfrm>
            <a:off x="3712464" y="1463040"/>
            <a:ext cx="1536192" cy="5486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3712464" y="1600200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VADER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12464" y="2011680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engine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31536" y="1463040"/>
            <a:ext cx="1536192" cy="1097280"/>
          </a:xfrm>
          <a:prstGeom prst="rect">
            <a:avLst/>
          </a:prstGeom>
          <a:solidFill>
            <a:srgbClr val="142236"/>
          </a:solidFill>
          <a:ln w="12700">
            <a:solidFill>
              <a:srgbClr val="9B5DE5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8" name="Shape 16"/>
          <p:cNvSpPr/>
          <p:nvPr/>
        </p:nvSpPr>
        <p:spPr>
          <a:xfrm>
            <a:off x="5431536" y="1463040"/>
            <a:ext cx="1536192" cy="54864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5431536" y="1600200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31536" y="2011680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&amp; graphs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150608" y="1463040"/>
            <a:ext cx="1536192" cy="1097280"/>
          </a:xfrm>
          <a:prstGeom prst="rect">
            <a:avLst/>
          </a:prstGeom>
          <a:solidFill>
            <a:srgbClr val="142236"/>
          </a:solidFill>
          <a:ln w="12700">
            <a:solidFill>
              <a:srgbClr val="F15BB5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2" name="Shape 20"/>
          <p:cNvSpPr/>
          <p:nvPr/>
        </p:nvSpPr>
        <p:spPr>
          <a:xfrm>
            <a:off x="7150608" y="1463040"/>
            <a:ext cx="1536192" cy="54864"/>
          </a:xfrm>
          <a:prstGeom prst="rect">
            <a:avLst/>
          </a:prstGeom>
          <a:solidFill>
            <a:srgbClr val="F15BB5"/>
          </a:solidFill>
          <a:ln w="12700">
            <a:solidFill>
              <a:srgbClr val="F15BB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7150608" y="1600200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WordCloud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50608" y="2011680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visualization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Tabs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74320" y="3127248"/>
            <a:ext cx="54864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411480" y="31272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11480" y="333756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reviews, count &amp; avg rating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46120" y="3127248"/>
            <a:ext cx="54864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Text 28"/>
          <p:cNvSpPr/>
          <p:nvPr/>
        </p:nvSpPr>
        <p:spPr>
          <a:xfrm>
            <a:off x="3383280" y="31272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383280" y="333756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/ Negative / Neutral distribution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17920" y="3127248"/>
            <a:ext cx="54864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Text 31"/>
          <p:cNvSpPr/>
          <p:nvPr/>
        </p:nvSpPr>
        <p:spPr>
          <a:xfrm>
            <a:off x="6355080" y="31272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Cloud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355080" y="333756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frequent review terms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3721608"/>
            <a:ext cx="54864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6" name="Text 34"/>
          <p:cNvSpPr/>
          <p:nvPr/>
        </p:nvSpPr>
        <p:spPr>
          <a:xfrm>
            <a:off x="411480" y="372160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11480" y="393192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changes over time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46120" y="3721608"/>
            <a:ext cx="54864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9" name="Text 37"/>
          <p:cNvSpPr/>
          <p:nvPr/>
        </p:nvSpPr>
        <p:spPr>
          <a:xfrm>
            <a:off x="3383280" y="372160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Reviews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383280" y="393192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customer examples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DEMONSTRATION OF OUTPUTS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Dashboard Features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411480" y="1709928"/>
            <a:ext cx="438912" cy="43891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411480" y="17099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50976" y="155448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Upload &amp; Text Input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50976" y="1847088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supports drag-and-drop CSV upload or direct text entry for on-the-fly analysis.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463040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4846320" y="1709928"/>
            <a:ext cx="438912" cy="43891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4846320" y="17099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85816" y="155448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85816" y="1847088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sample reviews, total review count, and the average rating at a glance.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633472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6" name="Shape 14"/>
          <p:cNvSpPr/>
          <p:nvPr/>
        </p:nvSpPr>
        <p:spPr>
          <a:xfrm>
            <a:off x="411480" y="2880360"/>
            <a:ext cx="438912" cy="43891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411480" y="28803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50976" y="272491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Distribution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50976" y="301752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visualizing the proportion of Positive, Negative, and Neutral reviews.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2633472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1" name="Shape 19"/>
          <p:cNvSpPr/>
          <p:nvPr/>
        </p:nvSpPr>
        <p:spPr>
          <a:xfrm>
            <a:off x="4846320" y="2880360"/>
            <a:ext cx="438912" cy="438912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4846320" y="28803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85816" y="272491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Cloud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85816" y="301752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representation of the most frequently used words across all reviews.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803904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6" name="Shape 24"/>
          <p:cNvSpPr/>
          <p:nvPr/>
        </p:nvSpPr>
        <p:spPr>
          <a:xfrm>
            <a:off x="411480" y="4050792"/>
            <a:ext cx="438912" cy="438912"/>
          </a:xfrm>
          <a:prstGeom prst="ellipse">
            <a:avLst/>
          </a:prstGeom>
          <a:solidFill>
            <a:srgbClr val="F15BB5"/>
          </a:solidFill>
          <a:ln w="12700">
            <a:solidFill>
              <a:srgbClr val="F15BB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411480" y="40507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50976" y="389534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 Graph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50976" y="4187952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chart of sentiment shifts when timestamp data is available.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3803904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1" name="Shape 29"/>
          <p:cNvSpPr/>
          <p:nvPr/>
        </p:nvSpPr>
        <p:spPr>
          <a:xfrm>
            <a:off x="4846320" y="4050792"/>
            <a:ext cx="438912" cy="43891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2" name="Text 30"/>
          <p:cNvSpPr/>
          <p:nvPr/>
        </p:nvSpPr>
        <p:spPr>
          <a:xfrm>
            <a:off x="4846320" y="40507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85816" y="389534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Reviews Tab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85816" y="4187952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the most positive and most negative reviews for quick human review.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C885CD-20CA-516C-BE67-14BF723426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319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F88D8E-CA60-DB36-450B-4B1B4A493582}"/>
              </a:ext>
            </a:extLst>
          </p:cNvPr>
          <p:cNvSpPr txBox="1"/>
          <p:nvPr/>
        </p:nvSpPr>
        <p:spPr>
          <a:xfrm>
            <a:off x="3364807" y="961"/>
            <a:ext cx="3685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How The App Looks Like</a:t>
            </a:r>
            <a:endParaRPr lang="en-ZA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465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4FE242-A011-8E85-1431-94440A6A10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765" b="1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698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6E424F-35D9-8B29-8D6F-C150F54FFD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28" r="4537" b="1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764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90363D-15B2-4075-57D0-9D5595E4D8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904" r="12193" b="1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003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BBF2E3-9854-FD4B-F289-430874E4D9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874" b="-1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353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01F507-A615-836F-ACCF-8CEF65831A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40" r="16647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653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D42"/>
          </a:solidFill>
          <a:ln w="12700">
            <a:solidFill>
              <a:srgbClr val="1B2D4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CHALLENGES &amp; RISKS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CHALLENGES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3931920" cy="475488"/>
          </a:xfrm>
          <a:prstGeom prst="rect">
            <a:avLst/>
          </a:prstGeom>
          <a:solidFill>
            <a:srgbClr val="142236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54864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CSV encoding issues gracefully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3931920" cy="475488"/>
          </a:xfrm>
          <a:prstGeom prst="rect">
            <a:avLst/>
          </a:prstGeom>
          <a:solidFill>
            <a:srgbClr val="142236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274320" y="2011680"/>
            <a:ext cx="54864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457200" y="2011680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Generalizing beyond McDonald's dataset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606040"/>
            <a:ext cx="3931920" cy="475488"/>
          </a:xfrm>
          <a:prstGeom prst="rect">
            <a:avLst/>
          </a:prstGeom>
          <a:solidFill>
            <a:srgbClr val="142236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274320" y="2606040"/>
            <a:ext cx="54864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457200" y="2606040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modern multi-tab UI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3931920" cy="475488"/>
          </a:xfrm>
          <a:prstGeom prst="rect">
            <a:avLst/>
          </a:prstGeom>
          <a:solidFill>
            <a:srgbClr val="142236"/>
          </a:solidFill>
          <a:ln w="12700">
            <a:solidFill>
              <a:srgbClr val="0077B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Shape 14"/>
          <p:cNvSpPr/>
          <p:nvPr/>
        </p:nvSpPr>
        <p:spPr>
          <a:xfrm>
            <a:off x="274320" y="3200400"/>
            <a:ext cx="54864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457200" y="3200400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time constraints during bootcamp sprint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914400"/>
            <a:ext cx="3931920" cy="384048"/>
          </a:xfrm>
          <a:prstGeom prst="rect">
            <a:avLst/>
          </a:prstGeom>
          <a:solidFill>
            <a:srgbClr val="7B2D00"/>
          </a:solidFill>
          <a:ln w="12700">
            <a:solidFill>
              <a:srgbClr val="7B2D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4846320" y="9144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RISKS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1417320"/>
            <a:ext cx="3931920" cy="475488"/>
          </a:xfrm>
          <a:prstGeom prst="rect">
            <a:avLst/>
          </a:prstGeom>
          <a:solidFill>
            <a:srgbClr val="142236"/>
          </a:solidFill>
          <a:ln w="12700">
            <a:solidFill>
              <a:srgbClr val="E76F5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Shape 19"/>
          <p:cNvSpPr/>
          <p:nvPr/>
        </p:nvSpPr>
        <p:spPr>
          <a:xfrm>
            <a:off x="4846320" y="1417320"/>
            <a:ext cx="54864" cy="47548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5029200" y="1417320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Misclassification due to sarcasm or ambiguity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2011680"/>
            <a:ext cx="3931920" cy="475488"/>
          </a:xfrm>
          <a:prstGeom prst="rect">
            <a:avLst/>
          </a:prstGeom>
          <a:solidFill>
            <a:srgbClr val="142236"/>
          </a:solidFill>
          <a:ln w="12700">
            <a:solidFill>
              <a:srgbClr val="E76F5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Shape 22"/>
          <p:cNvSpPr/>
          <p:nvPr/>
        </p:nvSpPr>
        <p:spPr>
          <a:xfrm>
            <a:off x="4846320" y="2011680"/>
            <a:ext cx="54864" cy="47548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5029200" y="2011680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Over-reliance on VADER without domain tuning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2606040"/>
            <a:ext cx="3931920" cy="475488"/>
          </a:xfrm>
          <a:prstGeom prst="rect">
            <a:avLst/>
          </a:prstGeom>
          <a:solidFill>
            <a:srgbClr val="142236"/>
          </a:solidFill>
          <a:ln w="12700">
            <a:solidFill>
              <a:srgbClr val="E76F5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Shape 25"/>
          <p:cNvSpPr/>
          <p:nvPr/>
        </p:nvSpPr>
        <p:spPr>
          <a:xfrm>
            <a:off x="4846320" y="2606040"/>
            <a:ext cx="54864" cy="47548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5029200" y="2606040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when uploading customer datasets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LESSONS LEARNED &amp; IMPACT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37160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dramatically improves interpretability of sentiment data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214884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enables rapid prototyping but demands careful UI planning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926080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457200" y="292608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92608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accuracy must be balanced with user experience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703320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457200" y="370332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370332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are powerful but require human oversight to guide decisions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754880" y="1371600"/>
            <a:ext cx="402336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9" name="Shape 17"/>
          <p:cNvSpPr/>
          <p:nvPr/>
        </p:nvSpPr>
        <p:spPr>
          <a:xfrm>
            <a:off x="4754880" y="1371600"/>
            <a:ext cx="54864" cy="6583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4828032" y="137160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⏱️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40680" y="140817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40680" y="166420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sentiment classification that would take hours manually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2148840"/>
            <a:ext cx="402336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4" name="Shape 22"/>
          <p:cNvSpPr/>
          <p:nvPr/>
        </p:nvSpPr>
        <p:spPr>
          <a:xfrm>
            <a:off x="4754880" y="2148840"/>
            <a:ext cx="54864" cy="6583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4828032" y="214884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40680" y="218541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40680" y="244144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and top reviews surface real business intelligence fast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2926080"/>
            <a:ext cx="402336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9" name="Shape 27"/>
          <p:cNvSpPr/>
          <p:nvPr/>
        </p:nvSpPr>
        <p:spPr>
          <a:xfrm>
            <a:off x="4754880" y="2926080"/>
            <a:ext cx="54864" cy="6583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Text 28"/>
          <p:cNvSpPr/>
          <p:nvPr/>
        </p:nvSpPr>
        <p:spPr>
          <a:xfrm>
            <a:off x="4828032" y="292608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🏆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440680" y="296265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Showcase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40680" y="321868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applied AI skills suitable for industry use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3703320"/>
            <a:ext cx="402336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4" name="Shape 32"/>
          <p:cNvSpPr/>
          <p:nvPr/>
        </p:nvSpPr>
        <p:spPr>
          <a:xfrm>
            <a:off x="4754880" y="3703320"/>
            <a:ext cx="54864" cy="6583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5" name="Text 33"/>
          <p:cNvSpPr/>
          <p:nvPr/>
        </p:nvSpPr>
        <p:spPr>
          <a:xfrm>
            <a:off x="4828032" y="370332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🌍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440680" y="373989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Cross-Industry Use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40680" y="399592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Applicable to hotels, restaurants, products, and beyond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077B6">
              <a:alpha val="18000"/>
            </a:srgbClr>
          </a:solidFill>
          <a:ln w="12700">
            <a:solidFill>
              <a:srgbClr val="0077B6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-914400" y="-731520"/>
            <a:ext cx="3200400" cy="3200400"/>
          </a:xfrm>
          <a:prstGeom prst="ellipse">
            <a:avLst/>
          </a:prstGeom>
          <a:solidFill>
            <a:srgbClr val="F4A261">
              <a:alpha val="15000"/>
            </a:srgbClr>
          </a:solidFill>
          <a:ln w="12700">
            <a:solidFill>
              <a:srgbClr val="F4A261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Raw Text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Meaningful Insights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65760" y="2176272"/>
            <a:ext cx="5029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365760" y="233172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Universal Review Analyzer combines sentiment analysis, visualization, and user-friendly design to deliver a professional tool applicable across industries — from restaurants to hotels to products.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547872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142236"/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365760" y="354787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3547872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142236"/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2514600" y="354787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Prototyping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3547872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142236"/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4663440" y="354787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Industry-Ready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Mbuyelo Nyathi  ·  CAPACITI  ·  AI Bootcamp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455</Words>
  <Application>Microsoft Office PowerPoint</Application>
  <PresentationFormat>On-screen Show (16:9)</PresentationFormat>
  <Paragraphs>115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Universal Review Analyzer</dc:title>
  <dc:subject>PptxGenJS Presentation</dc:subject>
  <dc:creator>Mbuyelo Nyathi</dc:creator>
  <cp:lastModifiedBy>MBUYELO NYATHI</cp:lastModifiedBy>
  <cp:revision>2</cp:revision>
  <dcterms:created xsi:type="dcterms:W3CDTF">2026-05-18T10:05:21Z</dcterms:created>
  <dcterms:modified xsi:type="dcterms:W3CDTF">2026-05-18T11:44:15Z</dcterms:modified>
</cp:coreProperties>
</file>